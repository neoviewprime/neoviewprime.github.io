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Clique para mover o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slide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formato de notas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9B80979-E7C2-41D1-80CF-D185A0170F8E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41F03C-3CCB-40D1-909D-09893041069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2B6779-9AE4-49D2-BD88-200A0BC3118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D34EC8-82F3-4C88-BA62-4A15CB077DF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E80EC1-5C2F-4577-8395-829C3F67EFE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D53381-07FB-435D-9282-7402EA2B3A0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E39B09-975F-4CD0-962C-A7E8D450CA0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9697CD-8722-4024-B1CF-0EC2055E805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73A80F-E37F-4B74-AD22-DFE262FD582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Clique para editar o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formato do texto do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título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9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4114440" cy="5143320"/>
          </a:xfrm>
          <a:prstGeom prst="rect">
            <a:avLst/>
          </a:prstGeom>
          <a:solidFill>
            <a:srgbClr val="2ea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4732200"/>
            <a:ext cx="4114440" cy="411120"/>
          </a:xfrm>
          <a:prstGeom prst="rect">
            <a:avLst/>
          </a:prstGeom>
          <a:solidFill>
            <a:srgbClr val="f47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347400" y="640080"/>
            <a:ext cx="347436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Quanto tempo</a:t>
            </a:r>
            <a:endParaRPr b="0" lang="pt-BR" sz="3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sua equipe</a:t>
            </a:r>
            <a:endParaRPr b="0" lang="pt-BR" sz="3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perde procurando</a:t>
            </a:r>
            <a:endParaRPr b="0" lang="pt-BR" sz="3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</a:rPr>
              <a:t>informação?</a:t>
            </a:r>
            <a:endParaRPr b="0" lang="pt-BR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347400" y="47548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199" strike="noStrike">
                <a:solidFill>
                  <a:srgbClr val="ffffff"/>
                </a:solidFill>
                <a:latin typeface="Calibri"/>
              </a:rPr>
              <a:t>NEOENERGIA COELBA  ·  INOVAÇÃO CORPORATIVA</a:t>
            </a:r>
            <a:endParaRPr b="0" lang="pt-B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4663440" y="822960"/>
            <a:ext cx="4114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0" spc="-1" strike="noStrike">
                <a:solidFill>
                  <a:srgbClr val="2eaa5e"/>
                </a:solidFill>
                <a:latin typeface="Calibri"/>
              </a:rPr>
              <a:t>NEO</a:t>
            </a:r>
            <a:endParaRPr b="0" lang="pt-BR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663440" y="1691640"/>
            <a:ext cx="4114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0" spc="-1" strike="noStrike">
                <a:solidFill>
                  <a:srgbClr val="f47920"/>
                </a:solidFill>
                <a:latin typeface="Calibri"/>
              </a:rPr>
              <a:t>VIEW</a:t>
            </a:r>
            <a:endParaRPr b="0" lang="pt-BR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4663440" y="2816280"/>
            <a:ext cx="4114440" cy="45360"/>
          </a:xfrm>
          <a:prstGeom prst="rect">
            <a:avLst/>
          </a:prstGeom>
          <a:solidFill>
            <a:srgbClr val="d6e4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663440" y="2944440"/>
            <a:ext cx="4114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6b7b8d"/>
                </a:solidFill>
                <a:latin typeface="Calibri"/>
              </a:rPr>
              <a:t>Plataforma de Inteligência Operacional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4663440" y="3493080"/>
            <a:ext cx="41144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Dados dispersos custam produtividade,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velocidade e capacidade de decisão.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O NeoView resolve isso.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/>
          <p:cNvSpPr/>
          <p:nvPr/>
        </p:nvSpPr>
        <p:spPr>
          <a:xfrm>
            <a:off x="0" y="0"/>
            <a:ext cx="9143640" cy="987120"/>
          </a:xfrm>
          <a:prstGeom prst="rect">
            <a:avLst/>
          </a:prstGeom>
          <a:solidFill>
            <a:srgbClr val="2ea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457200" y="914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d6e4dc"/>
                </a:solidFill>
                <a:latin typeface="Calibri"/>
              </a:rPr>
              <a:t>O PROBLEMA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457200" y="3841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O que está travando a sua operação?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347400" y="1170360"/>
            <a:ext cx="4151160" cy="1627200"/>
          </a:xfrm>
          <a:prstGeom prst="rect">
            <a:avLst/>
          </a:prstGeom>
          <a:solidFill>
            <a:srgbClr val="fff2e8"/>
          </a:solidFill>
          <a:ln w="6350">
            <a:solidFill>
              <a:srgbClr val="d6e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4"/>
          <p:cNvSpPr/>
          <p:nvPr/>
        </p:nvSpPr>
        <p:spPr>
          <a:xfrm>
            <a:off x="347400" y="1170360"/>
            <a:ext cx="4151160" cy="63720"/>
          </a:xfrm>
          <a:prstGeom prst="rect">
            <a:avLst/>
          </a:prstGeom>
          <a:solidFill>
            <a:srgbClr val="f47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" name="Image 0" descr="preencoded.png"/>
          <p:cNvPicPr/>
          <p:nvPr/>
        </p:nvPicPr>
        <p:blipFill>
          <a:blip r:embed="rId1"/>
          <a:stretch/>
        </p:blipFill>
        <p:spPr>
          <a:xfrm>
            <a:off x="511920" y="182880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23" name="Text 5"/>
          <p:cNvSpPr/>
          <p:nvPr/>
        </p:nvSpPr>
        <p:spPr>
          <a:xfrm>
            <a:off x="969120" y="1298520"/>
            <a:ext cx="3401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b8d"/>
                </a:solidFill>
                <a:latin typeface="Calibri"/>
              </a:rPr>
              <a:t>Tempo Produtivo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969120" y="1591200"/>
            <a:ext cx="3401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47920"/>
                </a:solidFill>
                <a:latin typeface="Calibri"/>
              </a:rPr>
              <a:t>−</a:t>
            </a:r>
            <a:r>
              <a:rPr b="1" lang="en-US" sz="2800" spc="-1" strike="noStrike">
                <a:solidFill>
                  <a:srgbClr val="f47920"/>
                </a:solidFill>
                <a:latin typeface="Calibri"/>
              </a:rPr>
              <a:t>30 min/dia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7"/>
          <p:cNvSpPr/>
          <p:nvPr/>
        </p:nvSpPr>
        <p:spPr>
          <a:xfrm>
            <a:off x="969120" y="2194560"/>
            <a:ext cx="3401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b8d"/>
                </a:solidFill>
                <a:latin typeface="Calibri"/>
              </a:rPr>
              <a:t>perdidos em buscas manuais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8"/>
          <p:cNvSpPr/>
          <p:nvPr/>
        </p:nvSpPr>
        <p:spPr>
          <a:xfrm>
            <a:off x="4663440" y="1170360"/>
            <a:ext cx="4151160" cy="1627200"/>
          </a:xfrm>
          <a:prstGeom prst="rect">
            <a:avLst/>
          </a:prstGeom>
          <a:solidFill>
            <a:srgbClr val="fff2e8"/>
          </a:solidFill>
          <a:ln w="6350">
            <a:solidFill>
              <a:srgbClr val="d6e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9"/>
          <p:cNvSpPr/>
          <p:nvPr/>
        </p:nvSpPr>
        <p:spPr>
          <a:xfrm>
            <a:off x="4663440" y="1170360"/>
            <a:ext cx="4151160" cy="63720"/>
          </a:xfrm>
          <a:prstGeom prst="rect">
            <a:avLst/>
          </a:prstGeom>
          <a:solidFill>
            <a:srgbClr val="f47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" name="Image 1" descr="preencoded.png"/>
          <p:cNvPicPr/>
          <p:nvPr/>
        </p:nvPicPr>
        <p:blipFill>
          <a:blip r:embed="rId2"/>
          <a:stretch/>
        </p:blipFill>
        <p:spPr>
          <a:xfrm>
            <a:off x="4827960" y="182880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29" name="Text 10"/>
          <p:cNvSpPr/>
          <p:nvPr/>
        </p:nvSpPr>
        <p:spPr>
          <a:xfrm>
            <a:off x="5285160" y="1298520"/>
            <a:ext cx="3401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b8d"/>
                </a:solidFill>
                <a:latin typeface="Calibri"/>
              </a:rPr>
              <a:t>Retrabalho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5285160" y="1591200"/>
            <a:ext cx="3401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47920"/>
                </a:solidFill>
                <a:latin typeface="Calibri"/>
              </a:rPr>
              <a:t>+40%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5285160" y="2194560"/>
            <a:ext cx="3401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b8d"/>
                </a:solidFill>
                <a:latin typeface="Calibri"/>
              </a:rPr>
              <a:t>de demandas duplicadas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13"/>
          <p:cNvSpPr/>
          <p:nvPr/>
        </p:nvSpPr>
        <p:spPr>
          <a:xfrm>
            <a:off x="347400" y="2999160"/>
            <a:ext cx="4151160" cy="1627200"/>
          </a:xfrm>
          <a:prstGeom prst="rect">
            <a:avLst/>
          </a:prstGeom>
          <a:solidFill>
            <a:srgbClr val="edf3fb"/>
          </a:solidFill>
          <a:ln w="6350">
            <a:solidFill>
              <a:srgbClr val="d6e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4"/>
          <p:cNvSpPr/>
          <p:nvPr/>
        </p:nvSpPr>
        <p:spPr>
          <a:xfrm>
            <a:off x="347400" y="2999160"/>
            <a:ext cx="4151160" cy="63720"/>
          </a:xfrm>
          <a:prstGeom prst="rect">
            <a:avLst/>
          </a:prstGeom>
          <a:solidFill>
            <a:srgbClr val="005ca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" name="Image 2" descr="preencoded.png"/>
          <p:cNvPicPr/>
          <p:nvPr/>
        </p:nvPicPr>
        <p:blipFill>
          <a:blip r:embed="rId3"/>
          <a:stretch/>
        </p:blipFill>
        <p:spPr>
          <a:xfrm>
            <a:off x="511920" y="365760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5" name="Text 15"/>
          <p:cNvSpPr/>
          <p:nvPr/>
        </p:nvSpPr>
        <p:spPr>
          <a:xfrm>
            <a:off x="969120" y="3127320"/>
            <a:ext cx="3401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b8d"/>
                </a:solidFill>
                <a:latin typeface="Calibri"/>
              </a:rPr>
              <a:t>Dep. de Pessoas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969120" y="3420000"/>
            <a:ext cx="3401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05ca9"/>
                </a:solidFill>
                <a:latin typeface="Calibri"/>
              </a:rPr>
              <a:t>Gargalos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7"/>
          <p:cNvSpPr/>
          <p:nvPr/>
        </p:nvSpPr>
        <p:spPr>
          <a:xfrm>
            <a:off x="969120" y="4023360"/>
            <a:ext cx="3401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b8d"/>
                </a:solidFill>
                <a:latin typeface="Calibri"/>
              </a:rPr>
              <a:t>em repasses de informação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18"/>
          <p:cNvSpPr/>
          <p:nvPr/>
        </p:nvSpPr>
        <p:spPr>
          <a:xfrm>
            <a:off x="4663440" y="2999160"/>
            <a:ext cx="4151160" cy="1627200"/>
          </a:xfrm>
          <a:prstGeom prst="rect">
            <a:avLst/>
          </a:prstGeom>
          <a:solidFill>
            <a:srgbClr val="edf3fb"/>
          </a:solidFill>
          <a:ln w="6350">
            <a:solidFill>
              <a:srgbClr val="d6e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19"/>
          <p:cNvSpPr/>
          <p:nvPr/>
        </p:nvSpPr>
        <p:spPr>
          <a:xfrm>
            <a:off x="4663440" y="2999160"/>
            <a:ext cx="4151160" cy="63720"/>
          </a:xfrm>
          <a:prstGeom prst="rect">
            <a:avLst/>
          </a:prstGeom>
          <a:solidFill>
            <a:srgbClr val="005ca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" name="Image 3" descr="preencoded.png"/>
          <p:cNvPicPr/>
          <p:nvPr/>
        </p:nvPicPr>
        <p:blipFill>
          <a:blip r:embed="rId4"/>
          <a:stretch/>
        </p:blipFill>
        <p:spPr>
          <a:xfrm>
            <a:off x="4827960" y="365760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41" name="Text 20"/>
          <p:cNvSpPr/>
          <p:nvPr/>
        </p:nvSpPr>
        <p:spPr>
          <a:xfrm>
            <a:off x="5285160" y="3127320"/>
            <a:ext cx="3401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b8d"/>
                </a:solidFill>
                <a:latin typeface="Calibri"/>
              </a:rPr>
              <a:t>Tempo de Decisão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21"/>
          <p:cNvSpPr/>
          <p:nvPr/>
        </p:nvSpPr>
        <p:spPr>
          <a:xfrm>
            <a:off x="5285160" y="3420000"/>
            <a:ext cx="3401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05ca9"/>
                </a:solidFill>
                <a:latin typeface="Calibri"/>
              </a:rPr>
              <a:t>+2 dias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22"/>
          <p:cNvSpPr/>
          <p:nvPr/>
        </p:nvSpPr>
        <p:spPr>
          <a:xfrm>
            <a:off x="5285160" y="4023360"/>
            <a:ext cx="3401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b7b8d"/>
                </a:solidFill>
                <a:latin typeface="Calibri"/>
              </a:rPr>
              <a:t>por falta de dados rápidos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3640" cy="987120"/>
          </a:xfrm>
          <a:prstGeom prst="rect">
            <a:avLst/>
          </a:prstGeom>
          <a:solidFill>
            <a:srgbClr val="2ea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57200" y="9144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d6e4dc"/>
                </a:solidFill>
                <a:latin typeface="Calibri"/>
              </a:rPr>
              <a:t>IMPACTO MENSURÁVEL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457200" y="3841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Antes × Depois do NeoView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347400" y="1143000"/>
            <a:ext cx="3894840" cy="3657240"/>
          </a:xfrm>
          <a:prstGeom prst="rect">
            <a:avLst/>
          </a:prstGeom>
          <a:solidFill>
            <a:srgbClr val="fff2e8"/>
          </a:solidFill>
          <a:ln w="6350">
            <a:solidFill>
              <a:srgbClr val="d6e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347400" y="1143000"/>
            <a:ext cx="3894840" cy="63720"/>
          </a:xfrm>
          <a:prstGeom prst="rect">
            <a:avLst/>
          </a:prstGeom>
          <a:solidFill>
            <a:srgbClr val="f47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347400" y="1207080"/>
            <a:ext cx="3894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47920"/>
                </a:solidFill>
                <a:latin typeface="Calibri"/>
              </a:rPr>
              <a:t>ANTES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347400" y="1719000"/>
            <a:ext cx="38948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800" spc="-1" strike="noStrike">
                <a:solidFill>
                  <a:srgbClr val="f47920"/>
                </a:solidFill>
                <a:latin typeface="Calibri"/>
              </a:rPr>
              <a:t>30 min</a:t>
            </a:r>
            <a:endParaRPr b="0" lang="pt-BR" sz="5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347400" y="2633400"/>
            <a:ext cx="3894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b7b8d"/>
                </a:solidFill>
                <a:latin typeface="Calibri"/>
              </a:rPr>
              <a:t>por busca de informação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567000" y="3108960"/>
            <a:ext cx="3565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b7b8d"/>
                </a:solidFill>
                <a:latin typeface="Calibri"/>
              </a:rPr>
              <a:t>✕   </a:t>
            </a:r>
            <a:r>
              <a:rPr b="0" lang="en-US" sz="1300" spc="-1" strike="noStrike">
                <a:solidFill>
                  <a:srgbClr val="6b7b8d"/>
                </a:solidFill>
                <a:latin typeface="Calibri"/>
              </a:rPr>
              <a:t>Processos manuais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9"/>
          <p:cNvSpPr/>
          <p:nvPr/>
        </p:nvSpPr>
        <p:spPr>
          <a:xfrm>
            <a:off x="567000" y="3493080"/>
            <a:ext cx="3565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b7b8d"/>
                </a:solidFill>
                <a:latin typeface="Calibri"/>
              </a:rPr>
              <a:t>✕   </a:t>
            </a:r>
            <a:r>
              <a:rPr b="0" lang="en-US" sz="1300" spc="-1" strike="noStrike">
                <a:solidFill>
                  <a:srgbClr val="6b7b8d"/>
                </a:solidFill>
                <a:latin typeface="Calibri"/>
              </a:rPr>
              <a:t>Múltiplos sistemas isolados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567000" y="3877200"/>
            <a:ext cx="3565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b7b8d"/>
                </a:solidFill>
                <a:latin typeface="Calibri"/>
              </a:rPr>
              <a:t>✕   </a:t>
            </a:r>
            <a:r>
              <a:rPr b="0" lang="en-US" sz="1300" spc="-1" strike="noStrike">
                <a:solidFill>
                  <a:srgbClr val="6b7b8d"/>
                </a:solidFill>
                <a:latin typeface="Calibri"/>
              </a:rPr>
              <a:t>Informação dispersa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567000" y="4260960"/>
            <a:ext cx="3565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b7b8d"/>
                </a:solidFill>
                <a:latin typeface="Calibri"/>
              </a:rPr>
              <a:t>✕   </a:t>
            </a:r>
            <a:r>
              <a:rPr b="0" lang="en-US" sz="1300" spc="-1" strike="noStrike">
                <a:solidFill>
                  <a:srgbClr val="6b7b8d"/>
                </a:solidFill>
                <a:latin typeface="Calibri"/>
              </a:rPr>
              <a:t>Revalidações constantes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2"/>
          <p:cNvSpPr/>
          <p:nvPr/>
        </p:nvSpPr>
        <p:spPr>
          <a:xfrm>
            <a:off x="4316040" y="2606040"/>
            <a:ext cx="511560" cy="603000"/>
          </a:xfrm>
          <a:prstGeom prst="rect">
            <a:avLst/>
          </a:prstGeom>
          <a:solidFill>
            <a:srgbClr val="2ea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13"/>
          <p:cNvSpPr/>
          <p:nvPr/>
        </p:nvSpPr>
        <p:spPr>
          <a:xfrm>
            <a:off x="4297680" y="2606040"/>
            <a:ext cx="5482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→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4"/>
          <p:cNvSpPr/>
          <p:nvPr/>
        </p:nvSpPr>
        <p:spPr>
          <a:xfrm>
            <a:off x="4206240" y="2030040"/>
            <a:ext cx="731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7a40"/>
                </a:solidFill>
                <a:latin typeface="Calibri"/>
              </a:rPr>
              <a:t>−</a:t>
            </a:r>
            <a:r>
              <a:rPr b="1" lang="en-US" sz="1400" spc="-1" strike="noStrike">
                <a:solidFill>
                  <a:srgbClr val="1a7a40"/>
                </a:solidFill>
                <a:latin typeface="Calibri"/>
              </a:rPr>
              <a:t>73%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15"/>
          <p:cNvSpPr/>
          <p:nvPr/>
        </p:nvSpPr>
        <p:spPr>
          <a:xfrm>
            <a:off x="4901040" y="1143000"/>
            <a:ext cx="3894840" cy="3657240"/>
          </a:xfrm>
          <a:prstGeom prst="rect">
            <a:avLst/>
          </a:prstGeom>
          <a:solidFill>
            <a:srgbClr val="fff2e8"/>
          </a:solidFill>
          <a:ln w="6350">
            <a:solidFill>
              <a:srgbClr val="d6e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16"/>
          <p:cNvSpPr/>
          <p:nvPr/>
        </p:nvSpPr>
        <p:spPr>
          <a:xfrm>
            <a:off x="4901040" y="1143000"/>
            <a:ext cx="3894840" cy="63720"/>
          </a:xfrm>
          <a:prstGeom prst="rect">
            <a:avLst/>
          </a:prstGeom>
          <a:solidFill>
            <a:srgbClr val="2ea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17"/>
          <p:cNvSpPr/>
          <p:nvPr/>
        </p:nvSpPr>
        <p:spPr>
          <a:xfrm>
            <a:off x="4901040" y="1207080"/>
            <a:ext cx="3894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7a40"/>
                </a:solidFill>
                <a:latin typeface="Calibri"/>
              </a:rPr>
              <a:t>DEPOIS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8"/>
          <p:cNvSpPr/>
          <p:nvPr/>
        </p:nvSpPr>
        <p:spPr>
          <a:xfrm>
            <a:off x="4901040" y="1719000"/>
            <a:ext cx="38948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800" spc="-1" strike="noStrike">
                <a:solidFill>
                  <a:srgbClr val="2eaa5e"/>
                </a:solidFill>
                <a:latin typeface="Calibri"/>
              </a:rPr>
              <a:t>8 min</a:t>
            </a:r>
            <a:endParaRPr b="0" lang="pt-BR" sz="5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9"/>
          <p:cNvSpPr/>
          <p:nvPr/>
        </p:nvSpPr>
        <p:spPr>
          <a:xfrm>
            <a:off x="4901040" y="2633400"/>
            <a:ext cx="3894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b7b8d"/>
                </a:solidFill>
                <a:latin typeface="Calibri"/>
              </a:rPr>
              <a:t>por busca de informação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Image 0" descr="preencoded.png"/>
          <p:cNvPicPr/>
          <p:nvPr/>
        </p:nvPicPr>
        <p:blipFill>
          <a:blip r:embed="rId1"/>
          <a:stretch/>
        </p:blipFill>
        <p:spPr>
          <a:xfrm>
            <a:off x="5065920" y="31273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65" name="Text 20"/>
          <p:cNvSpPr/>
          <p:nvPr/>
        </p:nvSpPr>
        <p:spPr>
          <a:xfrm>
            <a:off x="5413320" y="3108960"/>
            <a:ext cx="3245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Busca unificada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Image 1" descr="preencoded.png"/>
          <p:cNvPicPr/>
          <p:nvPr/>
        </p:nvPicPr>
        <p:blipFill>
          <a:blip r:embed="rId2"/>
          <a:stretch/>
        </p:blipFill>
        <p:spPr>
          <a:xfrm>
            <a:off x="5065920" y="351144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67" name="Text 21"/>
          <p:cNvSpPr/>
          <p:nvPr/>
        </p:nvSpPr>
        <p:spPr>
          <a:xfrm>
            <a:off x="5413320" y="3493080"/>
            <a:ext cx="3245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Fonte única de verdade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Image 2" descr="preencoded.png"/>
          <p:cNvPicPr/>
          <p:nvPr/>
        </p:nvPicPr>
        <p:blipFill>
          <a:blip r:embed="rId3"/>
          <a:stretch/>
        </p:blipFill>
        <p:spPr>
          <a:xfrm>
            <a:off x="5065920" y="389520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69" name="Text 22"/>
          <p:cNvSpPr/>
          <p:nvPr/>
        </p:nvSpPr>
        <p:spPr>
          <a:xfrm>
            <a:off x="5413320" y="3877200"/>
            <a:ext cx="3245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Dados em tempo real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Image 3" descr="preencoded.png"/>
          <p:cNvPicPr/>
          <p:nvPr/>
        </p:nvPicPr>
        <p:blipFill>
          <a:blip r:embed="rId4"/>
          <a:stretch/>
        </p:blipFill>
        <p:spPr>
          <a:xfrm>
            <a:off x="5065920" y="42793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71" name="Text 23"/>
          <p:cNvSpPr/>
          <p:nvPr/>
        </p:nvSpPr>
        <p:spPr>
          <a:xfrm>
            <a:off x="5413320" y="4260960"/>
            <a:ext cx="3245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Autonomia operacional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9143640" cy="987120"/>
          </a:xfrm>
          <a:prstGeom prst="rect">
            <a:avLst/>
          </a:prstGeom>
          <a:solidFill>
            <a:srgbClr val="2ea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1"/>
          <p:cNvSpPr/>
          <p:nvPr/>
        </p:nvSpPr>
        <p:spPr>
          <a:xfrm>
            <a:off x="457200" y="9144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d6e4dc"/>
                </a:solidFill>
                <a:latin typeface="Calibri"/>
              </a:rPr>
              <a:t>A OPORTUNIDADE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457200" y="3841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22 minutos economizados por demanda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3"/>
          <p:cNvSpPr/>
          <p:nvPr/>
        </p:nvSpPr>
        <p:spPr>
          <a:xfrm>
            <a:off x="2011680" y="822960"/>
            <a:ext cx="5120280" cy="4023000"/>
          </a:xfrm>
          <a:prstGeom prst="ellipse">
            <a:avLst/>
          </a:prstGeom>
          <a:solidFill>
            <a:srgbClr val="2eaa5e">
              <a:alpha val="6000"/>
            </a:srgbClr>
          </a:solidFill>
          <a:ln w="19050">
            <a:solidFill>
              <a:srgbClr val="4dc97a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0" y="1005840"/>
            <a:ext cx="91436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500" spc="-1" strike="noStrike">
                <a:solidFill>
                  <a:srgbClr val="2eaa5e"/>
                </a:solidFill>
                <a:latin typeface="Calibri"/>
              </a:rPr>
              <a:t>22</a:t>
            </a:r>
            <a:endParaRPr b="0" lang="pt-BR" sz="17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0" y="2999160"/>
            <a:ext cx="9143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1398" strike="noStrike">
                <a:solidFill>
                  <a:srgbClr val="1a1a1a"/>
                </a:solidFill>
                <a:latin typeface="Calibri"/>
              </a:rPr>
              <a:t>MIN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0" y="3584520"/>
            <a:ext cx="9143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6b7b8d"/>
                </a:solidFill>
                <a:latin typeface="Calibri"/>
              </a:rPr>
              <a:t>economizados por demanda, por colaborador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7"/>
          <p:cNvSpPr/>
          <p:nvPr/>
        </p:nvSpPr>
        <p:spPr>
          <a:xfrm>
            <a:off x="347400" y="4069080"/>
            <a:ext cx="1956600" cy="804240"/>
          </a:xfrm>
          <a:prstGeom prst="rect">
            <a:avLst/>
          </a:prstGeom>
          <a:solidFill>
            <a:srgbClr val="fff2e8"/>
          </a:solidFill>
          <a:ln w="6350">
            <a:solidFill>
              <a:srgbClr val="d6e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8"/>
          <p:cNvSpPr/>
          <p:nvPr/>
        </p:nvSpPr>
        <p:spPr>
          <a:xfrm>
            <a:off x="347400" y="4069080"/>
            <a:ext cx="1956600" cy="63720"/>
          </a:xfrm>
          <a:prstGeom prst="rect">
            <a:avLst/>
          </a:prstGeom>
          <a:solidFill>
            <a:srgbClr val="2ea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1" name="Image 0" descr="preencoded.png"/>
          <p:cNvPicPr/>
          <p:nvPr/>
        </p:nvPicPr>
        <p:blipFill>
          <a:blip r:embed="rId1"/>
          <a:stretch/>
        </p:blipFill>
        <p:spPr>
          <a:xfrm>
            <a:off x="438840" y="41878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82" name="Text 9"/>
          <p:cNvSpPr/>
          <p:nvPr/>
        </p:nvSpPr>
        <p:spPr>
          <a:xfrm>
            <a:off x="731520" y="4114800"/>
            <a:ext cx="150840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1a1a"/>
                </a:solidFill>
                <a:latin typeface="Calibri"/>
              </a:rPr>
              <a:t>Tempo de localização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0"/>
          <p:cNvSpPr/>
          <p:nvPr/>
        </p:nvSpPr>
        <p:spPr>
          <a:xfrm>
            <a:off x="2468880" y="4069080"/>
            <a:ext cx="1956600" cy="804240"/>
          </a:xfrm>
          <a:prstGeom prst="rect">
            <a:avLst/>
          </a:prstGeom>
          <a:solidFill>
            <a:srgbClr val="fff2e8"/>
          </a:solidFill>
          <a:ln w="6350">
            <a:solidFill>
              <a:srgbClr val="d6e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11"/>
          <p:cNvSpPr/>
          <p:nvPr/>
        </p:nvSpPr>
        <p:spPr>
          <a:xfrm>
            <a:off x="2468880" y="4069080"/>
            <a:ext cx="1956600" cy="63720"/>
          </a:xfrm>
          <a:prstGeom prst="rect">
            <a:avLst/>
          </a:prstGeom>
          <a:solidFill>
            <a:srgbClr val="2ea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5" name="Image 1" descr="preencoded.png"/>
          <p:cNvPicPr/>
          <p:nvPr/>
        </p:nvPicPr>
        <p:blipFill>
          <a:blip r:embed="rId2"/>
          <a:stretch/>
        </p:blipFill>
        <p:spPr>
          <a:xfrm>
            <a:off x="2560320" y="41878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86" name="Text 12"/>
          <p:cNvSpPr/>
          <p:nvPr/>
        </p:nvSpPr>
        <p:spPr>
          <a:xfrm>
            <a:off x="2853000" y="4114800"/>
            <a:ext cx="150840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1a1a"/>
                </a:solidFill>
                <a:latin typeface="Calibri"/>
              </a:rPr>
              <a:t>Tempo de validação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13"/>
          <p:cNvSpPr/>
          <p:nvPr/>
        </p:nvSpPr>
        <p:spPr>
          <a:xfrm>
            <a:off x="4590360" y="4069080"/>
            <a:ext cx="1956600" cy="804240"/>
          </a:xfrm>
          <a:prstGeom prst="rect">
            <a:avLst/>
          </a:prstGeom>
          <a:solidFill>
            <a:srgbClr val="fff2e8"/>
          </a:solidFill>
          <a:ln w="6350">
            <a:solidFill>
              <a:srgbClr val="d6e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14"/>
          <p:cNvSpPr/>
          <p:nvPr/>
        </p:nvSpPr>
        <p:spPr>
          <a:xfrm>
            <a:off x="4590360" y="4069080"/>
            <a:ext cx="1956600" cy="63720"/>
          </a:xfrm>
          <a:prstGeom prst="rect">
            <a:avLst/>
          </a:prstGeom>
          <a:solidFill>
            <a:srgbClr val="2ea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9" name="Image 2" descr="preencoded.png"/>
          <p:cNvPicPr/>
          <p:nvPr/>
        </p:nvPicPr>
        <p:blipFill>
          <a:blip r:embed="rId3"/>
          <a:stretch/>
        </p:blipFill>
        <p:spPr>
          <a:xfrm>
            <a:off x="4681800" y="41878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90" name="Text 15"/>
          <p:cNvSpPr/>
          <p:nvPr/>
        </p:nvSpPr>
        <p:spPr>
          <a:xfrm>
            <a:off x="4974480" y="4114800"/>
            <a:ext cx="150840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1a1a"/>
                </a:solidFill>
                <a:latin typeface="Calibri"/>
              </a:rPr>
              <a:t>Dep. de terceiros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16"/>
          <p:cNvSpPr/>
          <p:nvPr/>
        </p:nvSpPr>
        <p:spPr>
          <a:xfrm>
            <a:off x="6711840" y="4069080"/>
            <a:ext cx="1956600" cy="804240"/>
          </a:xfrm>
          <a:prstGeom prst="rect">
            <a:avLst/>
          </a:prstGeom>
          <a:solidFill>
            <a:srgbClr val="fff2e8"/>
          </a:solidFill>
          <a:ln w="6350">
            <a:solidFill>
              <a:srgbClr val="d6e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7"/>
          <p:cNvSpPr/>
          <p:nvPr/>
        </p:nvSpPr>
        <p:spPr>
          <a:xfrm>
            <a:off x="6711840" y="4069080"/>
            <a:ext cx="1956600" cy="63720"/>
          </a:xfrm>
          <a:prstGeom prst="rect">
            <a:avLst/>
          </a:prstGeom>
          <a:solidFill>
            <a:srgbClr val="2ea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3" name="Image 3" descr="preencoded.png"/>
          <p:cNvPicPr/>
          <p:nvPr/>
        </p:nvPicPr>
        <p:blipFill>
          <a:blip r:embed="rId4"/>
          <a:stretch/>
        </p:blipFill>
        <p:spPr>
          <a:xfrm>
            <a:off x="6803280" y="41878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94" name="Text 18"/>
          <p:cNvSpPr/>
          <p:nvPr/>
        </p:nvSpPr>
        <p:spPr>
          <a:xfrm>
            <a:off x="7095600" y="4114800"/>
            <a:ext cx="150840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1a1a"/>
                </a:solidFill>
                <a:latin typeface="Calibri"/>
              </a:rPr>
              <a:t>Retrabalho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0" y="0"/>
            <a:ext cx="9143640" cy="987120"/>
          </a:xfrm>
          <a:prstGeom prst="rect">
            <a:avLst/>
          </a:prstGeom>
          <a:solidFill>
            <a:srgbClr val="2ea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457200" y="914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d6e4dc"/>
                </a:solidFill>
                <a:latin typeface="Calibri"/>
              </a:rPr>
              <a:t>A SOLUÇÃO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457200" y="3841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</a:rPr>
              <a:t>NeoView: arquitetura em estrela — tudo conectado ao centro.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3"/>
          <p:cNvSpPr/>
          <p:nvPr/>
        </p:nvSpPr>
        <p:spPr>
          <a:xfrm>
            <a:off x="3310200" y="1691640"/>
            <a:ext cx="2523240" cy="2102760"/>
          </a:xfrm>
          <a:prstGeom prst="rect">
            <a:avLst/>
          </a:prstGeom>
          <a:solidFill>
            <a:srgbClr val="2eaa5e"/>
          </a:solidFill>
          <a:ln w="0">
            <a:noFill/>
          </a:ln>
          <a:effectLst>
            <a:outerShdw algn="bl" blurRad="177840" dir="8100000" dist="50402" kx="0" ky="0" rotWithShape="0" sx="100000" sy="100000">
              <a:srgbClr val="2eaa5e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4"/>
          <p:cNvSpPr/>
          <p:nvPr/>
        </p:nvSpPr>
        <p:spPr>
          <a:xfrm>
            <a:off x="3310200" y="1691640"/>
            <a:ext cx="2523240" cy="63720"/>
          </a:xfrm>
          <a:prstGeom prst="rect">
            <a:avLst/>
          </a:prstGeom>
          <a:solidFill>
            <a:srgbClr val="f47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3310200" y="1856160"/>
            <a:ext cx="25232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fffff"/>
                </a:solidFill>
                <a:latin typeface="Calibri"/>
              </a:rPr>
              <a:t>TABELA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fffff"/>
                </a:solidFill>
                <a:latin typeface="Calibri"/>
              </a:rPr>
              <a:t>FATO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3310200" y="2624400"/>
            <a:ext cx="25232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47920"/>
                </a:solidFill>
                <a:latin typeface="Calibri"/>
              </a:rPr>
              <a:t>NEO VIEW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3310200" y="3099960"/>
            <a:ext cx="2523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6e4dc"/>
                </a:solidFill>
                <a:latin typeface="Calibri"/>
              </a:rPr>
              <a:t>Central de Dados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3310200" y="3429000"/>
            <a:ext cx="2523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6e4dc"/>
                </a:solidFill>
                <a:latin typeface="Calibri"/>
              </a:rPr>
              <a:t>Indicadores · Relatórios · KPIs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255960" y="1115640"/>
            <a:ext cx="2029680" cy="1535760"/>
          </a:xfrm>
          <a:prstGeom prst="rect">
            <a:avLst/>
          </a:prstGeom>
          <a:solidFill>
            <a:srgbClr val="005ca9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11"/>
          <p:cNvSpPr/>
          <p:nvPr/>
        </p:nvSpPr>
        <p:spPr>
          <a:xfrm>
            <a:off x="255960" y="1115640"/>
            <a:ext cx="2029680" cy="63720"/>
          </a:xfrm>
          <a:prstGeom prst="rect">
            <a:avLst/>
          </a:prstGeom>
          <a:solidFill>
            <a:srgbClr val="f47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6" name="Image 0" descr="preencoded.png"/>
          <p:cNvPicPr/>
          <p:nvPr/>
        </p:nvPicPr>
        <p:blipFill>
          <a:blip r:embed="rId1"/>
          <a:stretch/>
        </p:blipFill>
        <p:spPr>
          <a:xfrm>
            <a:off x="420480" y="137160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107" name="Text 12"/>
          <p:cNvSpPr/>
          <p:nvPr/>
        </p:nvSpPr>
        <p:spPr>
          <a:xfrm>
            <a:off x="841320" y="1225440"/>
            <a:ext cx="1352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Organização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365760" y="1865520"/>
            <a:ext cx="1828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6e4dc"/>
                </a:solidFill>
                <a:latin typeface="Calibri"/>
              </a:rPr>
              <a:t>Hierarquia e estrutura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6e4dc"/>
                </a:solidFill>
                <a:latin typeface="Calibri"/>
              </a:rPr>
              <a:t>da empresa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15"/>
          <p:cNvSpPr/>
          <p:nvPr/>
        </p:nvSpPr>
        <p:spPr>
          <a:xfrm>
            <a:off x="6803280" y="1115640"/>
            <a:ext cx="2029680" cy="1535760"/>
          </a:xfrm>
          <a:prstGeom prst="rect">
            <a:avLst/>
          </a:prstGeom>
          <a:solidFill>
            <a:srgbClr val="005ca9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16"/>
          <p:cNvSpPr/>
          <p:nvPr/>
        </p:nvSpPr>
        <p:spPr>
          <a:xfrm>
            <a:off x="6803280" y="1115640"/>
            <a:ext cx="2029680" cy="63720"/>
          </a:xfrm>
          <a:prstGeom prst="rect">
            <a:avLst/>
          </a:prstGeom>
          <a:solidFill>
            <a:srgbClr val="f47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1" name="Image 1" descr="preencoded.png"/>
          <p:cNvPicPr/>
          <p:nvPr/>
        </p:nvPicPr>
        <p:blipFill>
          <a:blip r:embed="rId2"/>
          <a:stretch/>
        </p:blipFill>
        <p:spPr>
          <a:xfrm>
            <a:off x="6967800" y="137160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112" name="Text 17"/>
          <p:cNvSpPr/>
          <p:nvPr/>
        </p:nvSpPr>
        <p:spPr>
          <a:xfrm>
            <a:off x="7388280" y="1225440"/>
            <a:ext cx="1352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Documentos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8"/>
          <p:cNvSpPr/>
          <p:nvPr/>
        </p:nvSpPr>
        <p:spPr>
          <a:xfrm>
            <a:off x="6912720" y="1865520"/>
            <a:ext cx="1828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6e4dc"/>
                </a:solidFill>
                <a:latin typeface="Calibri"/>
              </a:rPr>
              <a:t>Relatórios, contratos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6e4dc"/>
                </a:solidFill>
                <a:latin typeface="Calibri"/>
              </a:rPr>
              <a:t>e aprovações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20"/>
          <p:cNvSpPr/>
          <p:nvPr/>
        </p:nvSpPr>
        <p:spPr>
          <a:xfrm>
            <a:off x="255960" y="3310200"/>
            <a:ext cx="2029680" cy="1535760"/>
          </a:xfrm>
          <a:prstGeom prst="rect">
            <a:avLst/>
          </a:prstGeom>
          <a:solidFill>
            <a:srgbClr val="1a7a40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21"/>
          <p:cNvSpPr/>
          <p:nvPr/>
        </p:nvSpPr>
        <p:spPr>
          <a:xfrm>
            <a:off x="255960" y="3310200"/>
            <a:ext cx="2029680" cy="63720"/>
          </a:xfrm>
          <a:prstGeom prst="rect">
            <a:avLst/>
          </a:prstGeom>
          <a:solidFill>
            <a:srgbClr val="f47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6" name="Image 2" descr="preencoded.png"/>
          <p:cNvPicPr/>
          <p:nvPr/>
        </p:nvPicPr>
        <p:blipFill>
          <a:blip r:embed="rId3"/>
          <a:stretch/>
        </p:blipFill>
        <p:spPr>
          <a:xfrm>
            <a:off x="420480" y="356616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117" name="Text 22"/>
          <p:cNvSpPr/>
          <p:nvPr/>
        </p:nvSpPr>
        <p:spPr>
          <a:xfrm>
            <a:off x="841320" y="3420000"/>
            <a:ext cx="1352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Indicadores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23"/>
          <p:cNvSpPr/>
          <p:nvPr/>
        </p:nvSpPr>
        <p:spPr>
          <a:xfrm>
            <a:off x="365760" y="4060080"/>
            <a:ext cx="1828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6e4dc"/>
                </a:solidFill>
                <a:latin typeface="Calibri"/>
              </a:rPr>
              <a:t>KPIs, metas 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6e4dc"/>
                </a:solidFill>
                <a:latin typeface="Calibri"/>
              </a:rPr>
              <a:t>resultados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25"/>
          <p:cNvSpPr/>
          <p:nvPr/>
        </p:nvSpPr>
        <p:spPr>
          <a:xfrm>
            <a:off x="6803280" y="3310200"/>
            <a:ext cx="2029680" cy="1535760"/>
          </a:xfrm>
          <a:prstGeom prst="rect">
            <a:avLst/>
          </a:prstGeom>
          <a:solidFill>
            <a:srgbClr val="1a7a40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26"/>
          <p:cNvSpPr/>
          <p:nvPr/>
        </p:nvSpPr>
        <p:spPr>
          <a:xfrm>
            <a:off x="6803280" y="3310200"/>
            <a:ext cx="2029680" cy="63720"/>
          </a:xfrm>
          <a:prstGeom prst="rect">
            <a:avLst/>
          </a:prstGeom>
          <a:solidFill>
            <a:srgbClr val="f47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1" name="Image 3" descr="preencoded.png"/>
          <p:cNvPicPr/>
          <p:nvPr/>
        </p:nvPicPr>
        <p:blipFill>
          <a:blip r:embed="rId4"/>
          <a:stretch/>
        </p:blipFill>
        <p:spPr>
          <a:xfrm>
            <a:off x="6967800" y="356616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122" name="Text 27"/>
          <p:cNvSpPr/>
          <p:nvPr/>
        </p:nvSpPr>
        <p:spPr>
          <a:xfrm>
            <a:off x="7388280" y="3420000"/>
            <a:ext cx="13528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Processos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28"/>
          <p:cNvSpPr/>
          <p:nvPr/>
        </p:nvSpPr>
        <p:spPr>
          <a:xfrm>
            <a:off x="6912720" y="4060080"/>
            <a:ext cx="18284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6e4dc"/>
                </a:solidFill>
                <a:latin typeface="Calibri"/>
              </a:rPr>
              <a:t>Fluxos, aprovações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6e4dc"/>
                </a:solidFill>
                <a:latin typeface="Calibri"/>
              </a:rPr>
              <a:t>e interações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5760000" y="3960000"/>
            <a:ext cx="540000" cy="540000"/>
          </a:xfrm>
          <a:custGeom>
            <a:avLst/>
            <a:gdLst/>
            <a:ahLst/>
            <a:rect l="l" t="t" r="r" b="b"/>
            <a:pathLst>
              <a:path w="841" h="854">
                <a:moveTo>
                  <a:pt x="517" y="247"/>
                </a:moveTo>
                <a:lnTo>
                  <a:pt x="517" y="415"/>
                </a:lnTo>
                <a:lnTo>
                  <a:pt x="264" y="415"/>
                </a:lnTo>
                <a:lnTo>
                  <a:pt x="264" y="0"/>
                </a:lnTo>
                <a:lnTo>
                  <a:pt x="0" y="0"/>
                </a:lnTo>
                <a:lnTo>
                  <a:pt x="0" y="680"/>
                </a:lnTo>
                <a:lnTo>
                  <a:pt x="517" y="680"/>
                </a:lnTo>
                <a:lnTo>
                  <a:pt x="517" y="854"/>
                </a:lnTo>
                <a:lnTo>
                  <a:pt x="841" y="547"/>
                </a:lnTo>
                <a:lnTo>
                  <a:pt x="517" y="247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 flipH="1">
            <a:off x="2880000" y="3960000"/>
            <a:ext cx="540000" cy="540000"/>
          </a:xfrm>
          <a:custGeom>
            <a:avLst/>
            <a:gdLst/>
            <a:ahLst/>
            <a:rect l="l" t="t" r="r" b="b"/>
            <a:pathLst>
              <a:path w="841" h="854">
                <a:moveTo>
                  <a:pt x="517" y="247"/>
                </a:moveTo>
                <a:lnTo>
                  <a:pt x="517" y="415"/>
                </a:lnTo>
                <a:lnTo>
                  <a:pt x="264" y="415"/>
                </a:lnTo>
                <a:lnTo>
                  <a:pt x="264" y="0"/>
                </a:lnTo>
                <a:lnTo>
                  <a:pt x="0" y="0"/>
                </a:lnTo>
                <a:lnTo>
                  <a:pt x="0" y="680"/>
                </a:lnTo>
                <a:lnTo>
                  <a:pt x="517" y="680"/>
                </a:lnTo>
                <a:lnTo>
                  <a:pt x="517" y="854"/>
                </a:lnTo>
                <a:lnTo>
                  <a:pt x="841" y="547"/>
                </a:lnTo>
                <a:lnTo>
                  <a:pt x="517" y="247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 flipH="1" flipV="1">
            <a:off x="2880000" y="1260000"/>
            <a:ext cx="540000" cy="360000"/>
          </a:xfrm>
          <a:custGeom>
            <a:avLst/>
            <a:gdLst/>
            <a:ahLst/>
            <a:rect l="l" t="t" r="r" b="b"/>
            <a:pathLst>
              <a:path w="841" h="854">
                <a:moveTo>
                  <a:pt x="517" y="247"/>
                </a:moveTo>
                <a:lnTo>
                  <a:pt x="517" y="415"/>
                </a:lnTo>
                <a:lnTo>
                  <a:pt x="264" y="415"/>
                </a:lnTo>
                <a:lnTo>
                  <a:pt x="264" y="0"/>
                </a:lnTo>
                <a:lnTo>
                  <a:pt x="0" y="0"/>
                </a:lnTo>
                <a:lnTo>
                  <a:pt x="0" y="680"/>
                </a:lnTo>
                <a:lnTo>
                  <a:pt x="517" y="680"/>
                </a:lnTo>
                <a:lnTo>
                  <a:pt x="517" y="854"/>
                </a:lnTo>
                <a:lnTo>
                  <a:pt x="841" y="547"/>
                </a:lnTo>
                <a:lnTo>
                  <a:pt x="517" y="247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 flipV="1">
            <a:off x="5580000" y="1260000"/>
            <a:ext cx="540000" cy="360000"/>
          </a:xfrm>
          <a:custGeom>
            <a:avLst/>
            <a:gdLst/>
            <a:ahLst/>
            <a:rect l="l" t="t" r="r" b="b"/>
            <a:pathLst>
              <a:path w="841" h="854">
                <a:moveTo>
                  <a:pt x="517" y="247"/>
                </a:moveTo>
                <a:lnTo>
                  <a:pt x="517" y="415"/>
                </a:lnTo>
                <a:lnTo>
                  <a:pt x="264" y="415"/>
                </a:lnTo>
                <a:lnTo>
                  <a:pt x="264" y="0"/>
                </a:lnTo>
                <a:lnTo>
                  <a:pt x="0" y="0"/>
                </a:lnTo>
                <a:lnTo>
                  <a:pt x="0" y="680"/>
                </a:lnTo>
                <a:lnTo>
                  <a:pt x="517" y="680"/>
                </a:lnTo>
                <a:lnTo>
                  <a:pt x="517" y="854"/>
                </a:lnTo>
                <a:lnTo>
                  <a:pt x="841" y="547"/>
                </a:lnTo>
                <a:lnTo>
                  <a:pt x="517" y="247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0" y="0"/>
            <a:ext cx="9143640" cy="987120"/>
          </a:xfrm>
          <a:prstGeom prst="rect">
            <a:avLst/>
          </a:prstGeom>
          <a:solidFill>
            <a:srgbClr val="2ea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1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457200" y="914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d6e4dc"/>
                </a:solidFill>
                <a:latin typeface="Calibri"/>
              </a:rPr>
              <a:t>RESULTADOS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2"/>
          <p:cNvSpPr/>
          <p:nvPr/>
        </p:nvSpPr>
        <p:spPr>
          <a:xfrm>
            <a:off x="457200" y="3841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O que o NeoView entrega, em números.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3"/>
          <p:cNvSpPr/>
          <p:nvPr/>
        </p:nvSpPr>
        <p:spPr>
          <a:xfrm>
            <a:off x="594360" y="1170360"/>
            <a:ext cx="2651400" cy="3638880"/>
          </a:xfrm>
          <a:prstGeom prst="rect">
            <a:avLst/>
          </a:prstGeom>
          <a:solidFill>
            <a:srgbClr val="edf7f2"/>
          </a:solidFill>
          <a:ln w="6350">
            <a:solidFill>
              <a:srgbClr val="d6e4d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4"/>
          <p:cNvSpPr/>
          <p:nvPr/>
        </p:nvSpPr>
        <p:spPr>
          <a:xfrm>
            <a:off x="594360" y="1170360"/>
            <a:ext cx="2651400" cy="63720"/>
          </a:xfrm>
          <a:prstGeom prst="rect">
            <a:avLst/>
          </a:prstGeom>
          <a:solidFill>
            <a:srgbClr val="2ea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3" name="Image 0" descr="preencoded.png"/>
          <p:cNvPicPr/>
          <p:nvPr/>
        </p:nvPicPr>
        <p:blipFill>
          <a:blip r:embed="rId1"/>
          <a:stretch/>
        </p:blipFill>
        <p:spPr>
          <a:xfrm>
            <a:off x="1664280" y="1417320"/>
            <a:ext cx="511560" cy="511560"/>
          </a:xfrm>
          <a:prstGeom prst="rect">
            <a:avLst/>
          </a:prstGeom>
          <a:ln w="0">
            <a:noFill/>
          </a:ln>
        </p:spPr>
      </p:pic>
      <p:sp>
        <p:nvSpPr>
          <p:cNvPr id="134" name="Text 5"/>
          <p:cNvSpPr/>
          <p:nvPr/>
        </p:nvSpPr>
        <p:spPr>
          <a:xfrm>
            <a:off x="594360" y="2084760"/>
            <a:ext cx="26514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2eaa5e"/>
                </a:solidFill>
                <a:latin typeface="Calibri"/>
              </a:rPr>
              <a:t>73,3%</a:t>
            </a:r>
            <a:endParaRPr b="0" lang="pt-BR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731520" y="3273480"/>
            <a:ext cx="23770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Redução no tempo de busca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7"/>
          <p:cNvSpPr/>
          <p:nvPr/>
        </p:nvSpPr>
        <p:spPr>
          <a:xfrm>
            <a:off x="3383280" y="1170360"/>
            <a:ext cx="2651400" cy="3638880"/>
          </a:xfrm>
          <a:prstGeom prst="rect">
            <a:avLst/>
          </a:prstGeom>
          <a:solidFill>
            <a:srgbClr val="edf7f2"/>
          </a:solidFill>
          <a:ln w="6350">
            <a:solidFill>
              <a:srgbClr val="d6e4d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8"/>
          <p:cNvSpPr/>
          <p:nvPr/>
        </p:nvSpPr>
        <p:spPr>
          <a:xfrm>
            <a:off x="3383280" y="1170360"/>
            <a:ext cx="2651400" cy="63720"/>
          </a:xfrm>
          <a:prstGeom prst="rect">
            <a:avLst/>
          </a:prstGeom>
          <a:solidFill>
            <a:srgbClr val="2ea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8" name="Image 1" descr="preencoded.png"/>
          <p:cNvPicPr/>
          <p:nvPr/>
        </p:nvPicPr>
        <p:blipFill>
          <a:blip r:embed="rId2"/>
          <a:stretch/>
        </p:blipFill>
        <p:spPr>
          <a:xfrm>
            <a:off x="4453200" y="1417320"/>
            <a:ext cx="511560" cy="511560"/>
          </a:xfrm>
          <a:prstGeom prst="rect">
            <a:avLst/>
          </a:prstGeom>
          <a:ln w="0">
            <a:noFill/>
          </a:ln>
        </p:spPr>
      </p:pic>
      <p:sp>
        <p:nvSpPr>
          <p:cNvPr id="139" name="Text 9"/>
          <p:cNvSpPr/>
          <p:nvPr/>
        </p:nvSpPr>
        <p:spPr>
          <a:xfrm>
            <a:off x="3383280" y="2084760"/>
            <a:ext cx="26514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2eaa5e"/>
                </a:solidFill>
                <a:latin typeface="Calibri"/>
              </a:rPr>
              <a:t>22 min</a:t>
            </a:r>
            <a:endParaRPr b="0" lang="pt-BR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10"/>
          <p:cNvSpPr/>
          <p:nvPr/>
        </p:nvSpPr>
        <p:spPr>
          <a:xfrm>
            <a:off x="3520440" y="3273480"/>
            <a:ext cx="23770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Economizados por demanda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11"/>
          <p:cNvSpPr/>
          <p:nvPr/>
        </p:nvSpPr>
        <p:spPr>
          <a:xfrm>
            <a:off x="6172200" y="1170360"/>
            <a:ext cx="2651400" cy="3638880"/>
          </a:xfrm>
          <a:prstGeom prst="rect">
            <a:avLst/>
          </a:prstGeom>
          <a:solidFill>
            <a:srgbClr val="fff5ed"/>
          </a:solidFill>
          <a:ln w="6350">
            <a:solidFill>
              <a:srgbClr val="d6e4d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12"/>
          <p:cNvSpPr/>
          <p:nvPr/>
        </p:nvSpPr>
        <p:spPr>
          <a:xfrm>
            <a:off x="6172200" y="1170360"/>
            <a:ext cx="2651400" cy="63720"/>
          </a:xfrm>
          <a:prstGeom prst="rect">
            <a:avLst/>
          </a:prstGeom>
          <a:solidFill>
            <a:srgbClr val="f47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3" name="Image 2" descr="preencoded.png"/>
          <p:cNvPicPr/>
          <p:nvPr/>
        </p:nvPicPr>
        <p:blipFill>
          <a:blip r:embed="rId3"/>
          <a:stretch/>
        </p:blipFill>
        <p:spPr>
          <a:xfrm>
            <a:off x="7242120" y="1417320"/>
            <a:ext cx="511560" cy="511560"/>
          </a:xfrm>
          <a:prstGeom prst="rect">
            <a:avLst/>
          </a:prstGeom>
          <a:ln w="0">
            <a:noFill/>
          </a:ln>
        </p:spPr>
      </p:pic>
      <p:sp>
        <p:nvSpPr>
          <p:cNvPr id="144" name="Text 13"/>
          <p:cNvSpPr/>
          <p:nvPr/>
        </p:nvSpPr>
        <p:spPr>
          <a:xfrm>
            <a:off x="6172200" y="2084760"/>
            <a:ext cx="26514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47920"/>
                </a:solidFill>
                <a:latin typeface="Calibri"/>
              </a:rPr>
              <a:t>65.880 h</a:t>
            </a:r>
            <a:endParaRPr b="0" lang="pt-BR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4"/>
          <p:cNvSpPr/>
          <p:nvPr/>
        </p:nvSpPr>
        <p:spPr>
          <a:xfrm>
            <a:off x="6309360" y="3273480"/>
            <a:ext cx="237708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Produtividade recuperada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por ano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0"/>
          <p:cNvSpPr/>
          <p:nvPr/>
        </p:nvSpPr>
        <p:spPr>
          <a:xfrm>
            <a:off x="0" y="0"/>
            <a:ext cx="9143640" cy="987120"/>
          </a:xfrm>
          <a:prstGeom prst="rect">
            <a:avLst/>
          </a:prstGeom>
          <a:solidFill>
            <a:srgbClr val="2ea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457200" y="914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99" strike="noStrike">
                <a:solidFill>
                  <a:srgbClr val="d6e4dc"/>
                </a:solidFill>
                <a:latin typeface="Calibri"/>
              </a:rPr>
              <a:t>BENEFÍCIOS PARA O NEGÓCIO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457200" y="3841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Quatro pilares de valor para a Neoenergia Coelba.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3"/>
          <p:cNvSpPr/>
          <p:nvPr/>
        </p:nvSpPr>
        <p:spPr>
          <a:xfrm>
            <a:off x="347400" y="1207080"/>
            <a:ext cx="4151160" cy="1627200"/>
          </a:xfrm>
          <a:prstGeom prst="rect">
            <a:avLst/>
          </a:prstGeom>
          <a:solidFill>
            <a:srgbClr val="fff2e8"/>
          </a:solidFill>
          <a:ln w="6350">
            <a:solidFill>
              <a:srgbClr val="d6e4d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4"/>
          <p:cNvSpPr/>
          <p:nvPr/>
        </p:nvSpPr>
        <p:spPr>
          <a:xfrm>
            <a:off x="347400" y="1207080"/>
            <a:ext cx="4151160" cy="63720"/>
          </a:xfrm>
          <a:prstGeom prst="rect">
            <a:avLst/>
          </a:prstGeom>
          <a:solidFill>
            <a:srgbClr val="2ea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5"/>
          <p:cNvSpPr/>
          <p:nvPr/>
        </p:nvSpPr>
        <p:spPr>
          <a:xfrm>
            <a:off x="511920" y="1792080"/>
            <a:ext cx="511560" cy="511560"/>
          </a:xfrm>
          <a:prstGeom prst="ellipse">
            <a:avLst/>
          </a:prstGeom>
          <a:solidFill>
            <a:srgbClr val="2eaa5e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2" name="Image 0" descr="preencoded.png"/>
          <p:cNvPicPr/>
          <p:nvPr/>
        </p:nvPicPr>
        <p:blipFill>
          <a:blip r:embed="rId1"/>
          <a:stretch/>
        </p:blipFill>
        <p:spPr>
          <a:xfrm>
            <a:off x="567000" y="184716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153" name="Text 6"/>
          <p:cNvSpPr/>
          <p:nvPr/>
        </p:nvSpPr>
        <p:spPr>
          <a:xfrm>
            <a:off x="1170360" y="1298520"/>
            <a:ext cx="32000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a1a1a"/>
                </a:solidFill>
                <a:latin typeface="Calibri"/>
              </a:rPr>
              <a:t>Eficiência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1170360" y="1737360"/>
            <a:ext cx="3200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b7b8d"/>
                </a:solidFill>
                <a:latin typeface="Calibri"/>
              </a:rPr>
              <a:t>Processos mais ágeis, sem retrabalho e com menos etapas manuais.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8"/>
          <p:cNvSpPr/>
          <p:nvPr/>
        </p:nvSpPr>
        <p:spPr>
          <a:xfrm>
            <a:off x="347400" y="3081600"/>
            <a:ext cx="4151160" cy="1627200"/>
          </a:xfrm>
          <a:prstGeom prst="rect">
            <a:avLst/>
          </a:prstGeom>
          <a:solidFill>
            <a:srgbClr val="fff2e8"/>
          </a:solidFill>
          <a:ln w="6350">
            <a:solidFill>
              <a:srgbClr val="d6e4d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9"/>
          <p:cNvSpPr/>
          <p:nvPr/>
        </p:nvSpPr>
        <p:spPr>
          <a:xfrm>
            <a:off x="347400" y="3081600"/>
            <a:ext cx="4151160" cy="63720"/>
          </a:xfrm>
          <a:prstGeom prst="rect">
            <a:avLst/>
          </a:prstGeom>
          <a:solidFill>
            <a:srgbClr val="005ca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10"/>
          <p:cNvSpPr/>
          <p:nvPr/>
        </p:nvSpPr>
        <p:spPr>
          <a:xfrm>
            <a:off x="511920" y="3666600"/>
            <a:ext cx="511560" cy="511560"/>
          </a:xfrm>
          <a:prstGeom prst="ellipse">
            <a:avLst/>
          </a:prstGeom>
          <a:solidFill>
            <a:srgbClr val="005ca9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8" name="Image 1" descr="preencoded.png"/>
          <p:cNvPicPr/>
          <p:nvPr/>
        </p:nvPicPr>
        <p:blipFill>
          <a:blip r:embed="rId2"/>
          <a:stretch/>
        </p:blipFill>
        <p:spPr>
          <a:xfrm>
            <a:off x="567000" y="372168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159" name="Text 11"/>
          <p:cNvSpPr/>
          <p:nvPr/>
        </p:nvSpPr>
        <p:spPr>
          <a:xfrm>
            <a:off x="1170360" y="3173040"/>
            <a:ext cx="32000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a1a1a"/>
                </a:solidFill>
                <a:latin typeface="Calibri"/>
              </a:rPr>
              <a:t>Governança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2"/>
          <p:cNvSpPr/>
          <p:nvPr/>
        </p:nvSpPr>
        <p:spPr>
          <a:xfrm>
            <a:off x="1170360" y="3611880"/>
            <a:ext cx="3200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b7b8d"/>
                </a:solidFill>
                <a:latin typeface="Calibri"/>
              </a:rPr>
              <a:t>Dados confiáveis, rastreáveis e com controle de acesso centralizado.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13"/>
          <p:cNvSpPr/>
          <p:nvPr/>
        </p:nvSpPr>
        <p:spPr>
          <a:xfrm>
            <a:off x="4663440" y="1207080"/>
            <a:ext cx="4151160" cy="1627200"/>
          </a:xfrm>
          <a:prstGeom prst="rect">
            <a:avLst/>
          </a:prstGeom>
          <a:solidFill>
            <a:srgbClr val="fff2e8"/>
          </a:solidFill>
          <a:ln w="6350">
            <a:solidFill>
              <a:srgbClr val="d6e4d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14"/>
          <p:cNvSpPr/>
          <p:nvPr/>
        </p:nvSpPr>
        <p:spPr>
          <a:xfrm>
            <a:off x="4663440" y="1207080"/>
            <a:ext cx="4151160" cy="63720"/>
          </a:xfrm>
          <a:prstGeom prst="rect">
            <a:avLst/>
          </a:prstGeom>
          <a:solidFill>
            <a:srgbClr val="f47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15"/>
          <p:cNvSpPr/>
          <p:nvPr/>
        </p:nvSpPr>
        <p:spPr>
          <a:xfrm>
            <a:off x="4827960" y="1792080"/>
            <a:ext cx="511560" cy="511560"/>
          </a:xfrm>
          <a:prstGeom prst="ellipse">
            <a:avLst/>
          </a:prstGeom>
          <a:solidFill>
            <a:srgbClr val="f47920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4" name="Image 2" descr="preencoded.png"/>
          <p:cNvPicPr/>
          <p:nvPr/>
        </p:nvPicPr>
        <p:blipFill>
          <a:blip r:embed="rId3"/>
          <a:stretch/>
        </p:blipFill>
        <p:spPr>
          <a:xfrm>
            <a:off x="4883040" y="184716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165" name="Text 16"/>
          <p:cNvSpPr/>
          <p:nvPr/>
        </p:nvSpPr>
        <p:spPr>
          <a:xfrm>
            <a:off x="5486400" y="1298520"/>
            <a:ext cx="32000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a1a1a"/>
                </a:solidFill>
                <a:latin typeface="Calibri"/>
              </a:rPr>
              <a:t>Confiabilidade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17"/>
          <p:cNvSpPr/>
          <p:nvPr/>
        </p:nvSpPr>
        <p:spPr>
          <a:xfrm>
            <a:off x="5486400" y="1737360"/>
            <a:ext cx="3200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b7b8d"/>
                </a:solidFill>
                <a:latin typeface="Calibri"/>
              </a:rPr>
              <a:t>Fonte única de verdade para toda a organização.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18"/>
          <p:cNvSpPr/>
          <p:nvPr/>
        </p:nvSpPr>
        <p:spPr>
          <a:xfrm>
            <a:off x="4663440" y="3081600"/>
            <a:ext cx="4151160" cy="1627200"/>
          </a:xfrm>
          <a:prstGeom prst="rect">
            <a:avLst/>
          </a:prstGeom>
          <a:solidFill>
            <a:srgbClr val="fff2e8"/>
          </a:solidFill>
          <a:ln w="6350">
            <a:solidFill>
              <a:srgbClr val="d6e4dc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19"/>
          <p:cNvSpPr/>
          <p:nvPr/>
        </p:nvSpPr>
        <p:spPr>
          <a:xfrm>
            <a:off x="4663440" y="3081600"/>
            <a:ext cx="4151160" cy="63720"/>
          </a:xfrm>
          <a:prstGeom prst="rect">
            <a:avLst/>
          </a:prstGeom>
          <a:solidFill>
            <a:srgbClr val="2ea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20"/>
          <p:cNvSpPr/>
          <p:nvPr/>
        </p:nvSpPr>
        <p:spPr>
          <a:xfrm>
            <a:off x="4827960" y="3666600"/>
            <a:ext cx="511560" cy="511560"/>
          </a:xfrm>
          <a:prstGeom prst="ellipse">
            <a:avLst/>
          </a:prstGeom>
          <a:solidFill>
            <a:srgbClr val="2eaa5e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0" name="Image 3" descr="preencoded.png"/>
          <p:cNvPicPr/>
          <p:nvPr/>
        </p:nvPicPr>
        <p:blipFill>
          <a:blip r:embed="rId4"/>
          <a:stretch/>
        </p:blipFill>
        <p:spPr>
          <a:xfrm>
            <a:off x="4883040" y="372168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171" name="Text 21"/>
          <p:cNvSpPr/>
          <p:nvPr/>
        </p:nvSpPr>
        <p:spPr>
          <a:xfrm>
            <a:off x="5486400" y="3173040"/>
            <a:ext cx="32000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a1a1a"/>
                </a:solidFill>
                <a:latin typeface="Calibri"/>
              </a:rPr>
              <a:t>Velocidade Decisória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22"/>
          <p:cNvSpPr/>
          <p:nvPr/>
        </p:nvSpPr>
        <p:spPr>
          <a:xfrm>
            <a:off x="5486400" y="3611880"/>
            <a:ext cx="3200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8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b7b8d"/>
                </a:solidFill>
                <a:latin typeface="Calibri"/>
              </a:rPr>
              <a:t>Insights em tempo real que aceleram a tomada de decisão executiva.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0" y="0"/>
            <a:ext cx="456840" cy="5143320"/>
          </a:xfrm>
          <a:prstGeom prst="rect">
            <a:avLst/>
          </a:prstGeom>
          <a:solidFill>
            <a:srgbClr val="2ea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1"/>
          <p:cNvSpPr/>
          <p:nvPr/>
        </p:nvSpPr>
        <p:spPr>
          <a:xfrm>
            <a:off x="0" y="4224600"/>
            <a:ext cx="9143640" cy="918720"/>
          </a:xfrm>
          <a:prstGeom prst="rect">
            <a:avLst/>
          </a:prstGeom>
          <a:solidFill>
            <a:srgbClr val="2eaa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Shape 2"/>
          <p:cNvSpPr/>
          <p:nvPr/>
        </p:nvSpPr>
        <p:spPr>
          <a:xfrm>
            <a:off x="0" y="4224600"/>
            <a:ext cx="9143640" cy="72720"/>
          </a:xfrm>
          <a:prstGeom prst="rect">
            <a:avLst/>
          </a:prstGeom>
          <a:solidFill>
            <a:srgbClr val="f47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3"/>
          <p:cNvSpPr/>
          <p:nvPr/>
        </p:nvSpPr>
        <p:spPr>
          <a:xfrm>
            <a:off x="658440" y="594360"/>
            <a:ext cx="78634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3300" spc="-1" strike="noStrike">
                <a:solidFill>
                  <a:srgbClr val="1a1a1a"/>
                </a:solidFill>
                <a:latin typeface="Calibri"/>
              </a:rPr>
              <a:t>A empresa não perde apenas</a:t>
            </a:r>
            <a:endParaRPr b="0" lang="pt-BR" sz="3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algn="l" pos="0"/>
              </a:tabLst>
            </a:pPr>
            <a:r>
              <a:rPr b="1" lang="en-US" sz="3300" spc="-1" strike="noStrike">
                <a:solidFill>
                  <a:srgbClr val="1a1a1a"/>
                </a:solidFill>
                <a:latin typeface="Calibri"/>
              </a:rPr>
              <a:t>tempo procurando informação.</a:t>
            </a:r>
            <a:endParaRPr b="0" lang="pt-BR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4"/>
          <p:cNvSpPr/>
          <p:nvPr/>
        </p:nvSpPr>
        <p:spPr>
          <a:xfrm>
            <a:off x="658440" y="2148840"/>
            <a:ext cx="74977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50" spc="-1" strike="noStrike">
                <a:solidFill>
                  <a:srgbClr val="6b7b8d"/>
                </a:solidFill>
                <a:latin typeface="Calibri"/>
              </a:rPr>
              <a:t>Ela perde produtividade, velocidade e capacidade de decisão.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5"/>
          <p:cNvSpPr/>
          <p:nvPr/>
        </p:nvSpPr>
        <p:spPr>
          <a:xfrm>
            <a:off x="658440" y="2779920"/>
            <a:ext cx="1188360" cy="63720"/>
          </a:xfrm>
          <a:prstGeom prst="rect">
            <a:avLst/>
          </a:prstGeom>
          <a:solidFill>
            <a:srgbClr val="f479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6"/>
          <p:cNvSpPr/>
          <p:nvPr/>
        </p:nvSpPr>
        <p:spPr>
          <a:xfrm>
            <a:off x="658440" y="2944440"/>
            <a:ext cx="69490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a7a40"/>
                </a:solidFill>
                <a:latin typeface="Calibri"/>
              </a:rPr>
              <a:t>O NeoView transforma informação dispersa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a7a40"/>
                </a:solidFill>
                <a:latin typeface="Calibri"/>
              </a:rPr>
              <a:t>em produtividade corporativa.</a:t>
            </a:r>
            <a:endParaRPr b="0" lang="pt-B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7"/>
          <p:cNvSpPr/>
          <p:nvPr/>
        </p:nvSpPr>
        <p:spPr>
          <a:xfrm>
            <a:off x="658440" y="4334400"/>
            <a:ext cx="5486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ffffff"/>
                </a:solidFill>
                <a:latin typeface="Calibri"/>
              </a:rPr>
              <a:t>NEOENERGIA COELBA  ·  2025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8"/>
          <p:cNvSpPr/>
          <p:nvPr/>
        </p:nvSpPr>
        <p:spPr>
          <a:xfrm>
            <a:off x="7040880" y="422460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NEO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7040880" y="4626720"/>
            <a:ext cx="19198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47920"/>
                </a:solidFill>
                <a:latin typeface="Calibri"/>
              </a:rPr>
              <a:t>VIEW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2026-06-06T12:02:04Z</dcterms:created>
  <dc:creator>PptxGenJS</dc:creator>
  <dc:description/>
  <dc:language>pt-BR</dc:language>
  <cp:lastModifiedBy/>
  <dcterms:modified xsi:type="dcterms:W3CDTF">2026-06-06T09:19:53Z</dcterms:modified>
  <cp:revision>2</cp:revision>
  <dc:subject>PptxGenJS Presentation</dc:subject>
  <dc:title>NeoView – Pitch Executivo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